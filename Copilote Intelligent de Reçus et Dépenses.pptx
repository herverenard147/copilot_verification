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387" y="1432768"/>
            <a:ext cx="2181225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5437" y="2004268"/>
            <a:ext cx="900112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Copilote Intelligent de </a:t>
            </a:r>
            <a:r>
              <a:rPr b="1" sz="4200" i="0" u="none">
                <a:solidFill>
                  <a:srgbClr val="0284C7"/>
                </a:solidFill>
                <a:latin typeface="Plus Jakarta Sans"/>
              </a:rPr>
              <a:t>Reçus et Dépenses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21409"/>
            <a:ext cx="7620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64748B"/>
                </a:solidFill>
                <a:latin typeface="Plus Jakarta Sans"/>
              </a:rPr>
              <a:t>Quand l'ancrage culturel local rencontre l'automatisation comptable de pointe, l'extraction documentaire et la recherche sémantique.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837" y="1537543"/>
            <a:ext cx="147637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1341"/>
            <a:ext cx="5334000" cy="27411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01341"/>
            <a:ext cx="5334000" cy="2741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300" y="2744241"/>
            <a:ext cx="452056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Le Constat de Terrain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3816"/>
            <a:ext cx="464820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La gestion des justificatifs repose encore sur des processus manuels lourds, chronophages et hautement sujets aux erreurs humaines, freinant l'efficacité des ménages et des petites structures.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0" y="2744241"/>
            <a:ext cx="452056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La Double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153816"/>
            <a:ext cx="464820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1. Fonctionnelle 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Automatiser de bout en bout l'extraction et le contrôle de conformité des reçus.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2. Stratégique 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S'affranchir de la dépendance aux API cloud externes (ex. Gemini) en créant une brique intégrable par API.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63291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763291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lus Jakarta Sans"/>
              </a:rPr>
              <a:t>Le Défi du Traitement des Reçus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7079"/>
            <a:ext cx="3524250" cy="2369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87079"/>
            <a:ext cx="3524250" cy="23696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87079"/>
            <a:ext cx="3524250" cy="236964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82354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49104"/>
            <a:ext cx="308038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Extraction Précise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30104"/>
            <a:ext cx="29337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Modèle multimodal Donut pré-entraîné transformant instantanément l'image en un JSON structuré exploitable.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2882354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9150" y="3549104"/>
            <a:ext cx="308038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Règles &amp; SYSCOHADA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930104"/>
            <a:ext cx="29337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Contrôle de cohérence à 3 états et affectation comptable automatisée multi-comptes sécurisée.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2882354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1525" y="3549104"/>
            <a:ext cx="308038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Recherche Sémantique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930104"/>
            <a:ext cx="29337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Indexation vectorielle FAISS et interactivité RAG pour interroger l'historique en langage naturel.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37" y="3015704"/>
            <a:ext cx="1619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3925" y="3015704"/>
            <a:ext cx="26670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4875" y="3015704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lus Jakarta Sans"/>
              </a:rPr>
              <a:t>Le Copilote : Architecture &amp; Automatisation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62050"/>
            <a:ext cx="11049000" cy="5219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650777"/>
            <a:ext cx="7620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5712" y="3546127"/>
            <a:ext cx="46005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FFFFF"/>
                </a:solidFill>
                <a:latin typeface="Plus Jakarta Sans"/>
              </a:rPr>
              <a:t>Parcours Applicatif de l'Utilisateur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4070002"/>
            <a:ext cx="5715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Uploadez un reçu, observez l'extraction automatique des lignes, validez les indicateurs de contrôle comptable, parcourez le tableau de bord analytique et testez les requêtes sémantiques.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lus Jakarta Sans"/>
              </a:rPr>
              <a:t>Démonstration en Direct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2702"/>
            <a:ext cx="5334000" cy="19182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12702"/>
            <a:ext cx="5334000" cy="19182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7300" y="3155602"/>
            <a:ext cx="452056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Acquis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5177"/>
            <a:ext cx="46482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Pipeline validé par 68 tests unitaires, architecture modulaire robuste, gestion propre du sur-apprentissage et journalisation rigoureuse des erreurs.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0" y="3155602"/>
            <a:ext cx="452056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Perspectives de Marché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65177"/>
            <a:ext cx="46482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Proposition d'une brique logicielle agile et indépendante, conçue pour s'imbriquer par API au sein des écosystèmes comptables déjà existants.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7465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17465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E293B"/>
                </a:solidFill>
                <a:latin typeface="Plus Jakarta Sans"/>
              </a:rPr>
              <a:t>Bilan et Vision d'Avenir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